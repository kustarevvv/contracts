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7" r:id="rId3"/>
    <p:sldId id="265" r:id="rId4"/>
    <p:sldId id="290" r:id="rId5"/>
    <p:sldId id="257" r:id="rId6"/>
    <p:sldId id="292" r:id="rId7"/>
    <p:sldId id="293" r:id="rId8"/>
    <p:sldId id="258" r:id="rId9"/>
    <p:sldId id="296" r:id="rId10"/>
    <p:sldId id="272" r:id="rId11"/>
    <p:sldId id="291" r:id="rId12"/>
    <p:sldId id="266" r:id="rId13"/>
    <p:sldId id="274" r:id="rId14"/>
    <p:sldId id="262" r:id="rId15"/>
    <p:sldId id="276" r:id="rId16"/>
    <p:sldId id="259" r:id="rId17"/>
    <p:sldId id="278" r:id="rId18"/>
    <p:sldId id="260" r:id="rId19"/>
    <p:sldId id="267" r:id="rId20"/>
    <p:sldId id="286" r:id="rId21"/>
    <p:sldId id="285" r:id="rId22"/>
    <p:sldId id="269" r:id="rId23"/>
    <p:sldId id="295" r:id="rId24"/>
    <p:sldId id="299" r:id="rId25"/>
    <p:sldId id="261" r:id="rId26"/>
    <p:sldId id="264" r:id="rId27"/>
    <p:sldId id="294" r:id="rId28"/>
    <p:sldId id="281" r:id="rId29"/>
    <p:sldId id="282" r:id="rId30"/>
    <p:sldId id="263" r:id="rId31"/>
    <p:sldId id="298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3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624B3-7AC3-482E-9A22-7A08670C1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1DDF18B-5CE7-4645-8F70-35F1F9107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415741-1469-48B5-8033-C1052A250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E73C-B8D5-4762-B223-562569C8B3A9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06A22D-6BE8-4067-8959-1C127368E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B58C54-7DE9-4E7B-9616-3A166ADC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DFF1-CD11-48D3-92B8-16E862E053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27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1549C-C4CD-4126-9438-7F455546C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D7288F-D75F-4FB9-961B-242F7F102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B1968A-041F-4250-B135-7A16579A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E73C-B8D5-4762-B223-562569C8B3A9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55774D-C6AD-4E80-95F0-446E410C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66CF46-B7C5-48F4-9846-907C6D8E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DFF1-CD11-48D3-92B8-16E862E053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38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610AAD-83AE-4E7E-A463-FBDCE6F4B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1BC55F-D9F3-46BC-8CC5-1BDA44A54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60F78C-F269-4F2A-B4B1-3DEB17FFD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E73C-B8D5-4762-B223-562569C8B3A9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2500DE-F01F-4871-9F5B-E950A5121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551E5A-7317-4D5D-A023-3F23890F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DFF1-CD11-48D3-92B8-16E862E053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80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75F2C-9215-4885-8B42-75C2A623B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4D5CEC-8880-49A5-B8D2-D1359029A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882B64-4D9D-469B-A8CD-D9F048B2C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C98F79-2500-46D9-8061-6862947F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E73C-B8D5-4762-B223-562569C8B3A9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56C09B-5D2A-459B-8F0B-DD8658DF2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4CFFD8-304E-4408-B10A-BAAE76DA2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DFF1-CD11-48D3-92B8-16E862E053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449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3CC5B-2E60-4545-8D5A-EB1F47983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D3C203-D73B-4331-987E-526183D24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479618-F1AE-4558-ACB0-DCA9C9482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45C7891-C36F-4F6F-B1F8-956B99ADCD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1217EFB-FA48-4860-B1AA-40D67C120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4E76AB2-BB05-4B34-9067-8A8B53ED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E73C-B8D5-4762-B223-562569C8B3A9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092C5A-A97E-4A73-B52D-7F00F9237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14EDA3D-2E4B-4067-A478-58A74A2E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DFF1-CD11-48D3-92B8-16E862E053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62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E8A032-C410-4E42-BC7C-CEE67FB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287BDEA-A374-4F04-ABFA-323A81764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E73C-B8D5-4762-B223-562569C8B3A9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FA44862-24E5-4ED0-BB6F-AADA50BE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471B1E9-E0D5-4350-B815-CB0A7BAF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DFF1-CD11-48D3-92B8-16E862E053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112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839E48-F1C2-4F01-9F1D-9D5CEBAC6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E73C-B8D5-4762-B223-562569C8B3A9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C2B0CE-9CD5-4754-BEE6-EEFE04EBB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D7AE98-5EDC-4400-A3A8-B13EFDB4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DFF1-CD11-48D3-92B8-16E862E053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949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9F5B9-98FE-4AF5-9C38-82F07AA59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02BF56-D06E-4C6E-BAFB-6582058D5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93DF5F-1042-412D-8B63-0C35EA105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C047E4-EC7F-470B-822C-6A4DD4F82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E73C-B8D5-4762-B223-562569C8B3A9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9816AC-DA5E-43A2-BB31-47AB69E72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ACE336-638F-458D-8E2B-CDF4B9157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DFF1-CD11-48D3-92B8-16E862E053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851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DC2E6-776F-4256-98FD-B7F57197B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1812B13-DC09-4613-B7A1-391F199441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365720-464F-4C27-BEE9-6E8EBB747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B7B1CC-7E2D-411B-BEC9-627759B7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E73C-B8D5-4762-B223-562569C8B3A9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FA87E1-01CB-4B77-B78E-8C8100E35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DD13A1-EA2E-415B-A720-79FFC458A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DFF1-CD11-48D3-92B8-16E862E053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90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A1578E-6990-4594-920E-4EC906D93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CE877E-BD98-41BC-8D8F-B093A62CD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1E16CD-4661-4878-8D68-4874C08A7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E73C-B8D5-4762-B223-562569C8B3A9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2612D8-7435-4994-8146-77098B82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016F1F-9539-4ED1-930A-D4ABE7FF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DFF1-CD11-48D3-92B8-16E862E053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2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448582A-AAB9-4528-BBB0-6EE28B397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AC9F19C-0CD4-4340-939A-291668FDD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0406E9-DFDA-4F65-A637-D4D714CA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E73C-B8D5-4762-B223-562569C8B3A9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4AD29-15FA-4C79-92F4-A3FA2646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731A89-5458-4A98-BE2A-38F602C2C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DFF1-CD11-48D3-92B8-16E862E053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85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B7F04F-AEB2-465F-8E58-25157B04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F05FF9-F09D-4A08-9FC9-B7ADE4E32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0948AD-2072-4A7C-8ACD-293754927B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FE73C-B8D5-4762-B223-562569C8B3A9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AB5D23-DDA3-43EB-8E72-F4ED827A6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CC0BE0-BD0F-4AFB-B008-2A626BDE7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6DFF1-CD11-48D3-92B8-16E862E053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790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229346-A916-4CCD-B0C6-76354178C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86805"/>
            <a:ext cx="9144000" cy="1909763"/>
          </a:xfrm>
        </p:spPr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Поиск потенциальных поставщиков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3A8EFD-8AFA-487A-8B7F-7AF7CA87CB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489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9A4FC8-4169-4425-B8BC-EF78B6FF777E}"/>
              </a:ext>
            </a:extLst>
          </p:cNvPr>
          <p:cNvSpPr txBox="1"/>
          <p:nvPr/>
        </p:nvSpPr>
        <p:spPr>
          <a:xfrm>
            <a:off x="6096000" y="351677"/>
            <a:ext cx="541513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rPr sz="3200" dirty="0" err="1">
                <a:latin typeface="Arial" panose="020B0604020202020204" pitchFamily="34" charset="0"/>
                <a:cs typeface="Arial" panose="020B0604020202020204" pitchFamily="34" charset="0"/>
              </a:rPr>
              <a:t>Вводные</a:t>
            </a: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dirty="0" err="1"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 закупок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62178-B75C-4CEB-8A8A-1B76FE2881AA}"/>
              </a:ext>
            </a:extLst>
          </p:cNvPr>
          <p:cNvSpPr txBox="1"/>
          <p:nvPr/>
        </p:nvSpPr>
        <p:spPr>
          <a:xfrm>
            <a:off x="1906817" y="1417609"/>
            <a:ext cx="8229600" cy="4190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Планируется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провести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закупку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услуг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техническому обслуживанию зданий (ОКПД2 81.10.10.000)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клининговым услугам (ОКПД2 81.21.10.000)</a:t>
            </a:r>
          </a:p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основании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Федерального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закона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№ 44-ФЗ.</a:t>
            </a:r>
            <a:br>
              <a:rPr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Планируемый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объём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закупки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Техническое обслуживание зданий — 250 млн руб.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Клининговые услуги — 130 млн руб.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370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C17DCB-A9E7-4DEF-B825-29AC3F775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80309"/>
            <a:ext cx="6161015" cy="801455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Полученные данные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348D7324-CBAE-44B0-96C2-41CA8328BE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5567760"/>
              </p:ext>
            </p:extLst>
          </p:nvPr>
        </p:nvGraphicFramePr>
        <p:xfrm>
          <a:off x="949004" y="2110851"/>
          <a:ext cx="10293992" cy="36068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146996">
                  <a:extLst>
                    <a:ext uri="{9D8B030D-6E8A-4147-A177-3AD203B41FA5}">
                      <a16:colId xmlns:a16="http://schemas.microsoft.com/office/drawing/2014/main" val="2993360614"/>
                    </a:ext>
                  </a:extLst>
                </a:gridCol>
                <a:gridCol w="5146996">
                  <a:extLst>
                    <a:ext uri="{9D8B030D-6E8A-4147-A177-3AD203B41FA5}">
                      <a16:colId xmlns:a16="http://schemas.microsoft.com/office/drawing/2014/main" val="833102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Реестровый номер контракта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Фактически оплачено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7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ИНН исполнителя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Основание расторжения контракта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944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Наименование исполнителя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Причина расторжения контракта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194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Статус контракта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Неустойки (штрафы и пени)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730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Номер извещения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b="1" dirty="0">
                          <a:effectLst/>
                        </a:rPr>
                        <a:t>Включение в реестр недобросовестных поставщиков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838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Дата заключения контракта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ОКВЭД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066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Дата окончания исполнения контракта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Доходы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598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Цена контракта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Расходы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051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Прибыль(убыток)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3581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22918D0-660E-4380-8B4C-B13F96162C88}"/>
              </a:ext>
            </a:extLst>
          </p:cNvPr>
          <p:cNvSpPr txBox="1"/>
          <p:nvPr/>
        </p:nvSpPr>
        <p:spPr>
          <a:xfrm>
            <a:off x="949004" y="1493240"/>
            <a:ext cx="5151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Наименования полей</a:t>
            </a:r>
          </a:p>
        </p:txBody>
      </p:sp>
    </p:spTree>
    <p:extLst>
      <p:ext uri="{BB962C8B-B14F-4D97-AF65-F5344CB8AC3E}">
        <p14:creationId xmlns:p14="http://schemas.microsoft.com/office/powerpoint/2010/main" val="2447840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2D5562-980E-4144-8848-FE911FD2A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168" y="180261"/>
            <a:ext cx="5257800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Условия участия в конкурсе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7071F0-A706-4EB7-B528-F0216EC75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2854"/>
            <a:ext cx="10515600" cy="2939322"/>
          </a:xfrm>
        </p:spPr>
        <p:txBody>
          <a:bodyPr>
            <a:normAutofit lnSpcReduction="10000"/>
          </a:bodyPr>
          <a:lstStyle/>
          <a:p>
            <a:r>
              <a:rPr lang="ru-RU" sz="2000" kern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Цена выполненных работ, оказанных услуг по контракту должна составлять не менее 20 процентов начальной (максимальной) цены контракта</a:t>
            </a:r>
          </a:p>
          <a:p>
            <a:pPr marL="0" indent="0">
              <a:buNone/>
            </a:pPr>
            <a:endParaRPr lang="ru-RU" sz="2000" kern="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ru-RU" sz="2000" kern="0" dirty="0">
                <a:latin typeface="Arial" panose="020B0604020202020204" pitchFamily="34" charset="0"/>
                <a:cs typeface="Arial" panose="020B0604020202020204" pitchFamily="34" charset="0"/>
              </a:rPr>
              <a:t>Начальная цена контракта:</a:t>
            </a:r>
          </a:p>
          <a:p>
            <a:pPr lvl="1"/>
            <a:r>
              <a:rPr lang="ru-RU" sz="2000" kern="0" dirty="0">
                <a:latin typeface="Arial" panose="020B0604020202020204" pitchFamily="34" charset="0"/>
                <a:cs typeface="Arial" panose="020B0604020202020204" pitchFamily="34" charset="0"/>
              </a:rPr>
              <a:t>для ремонта зданий: 250 000 000 руб.</a:t>
            </a:r>
          </a:p>
          <a:p>
            <a:pPr lvl="1"/>
            <a:r>
              <a:rPr lang="ru-RU" sz="2000" kern="0" dirty="0">
                <a:latin typeface="Arial" panose="020B0604020202020204" pitchFamily="34" charset="0"/>
                <a:cs typeface="Arial" panose="020B0604020202020204" pitchFamily="34" charset="0"/>
              </a:rPr>
              <a:t>для уборки зданий: 130 000 000 руб.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2000" kern="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ru-RU" sz="2000" kern="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Опытом исполнения контракта считается такой опыт участника закупки за 5 лет до дня окончания срока подачи заявок на участие в закупке с учетом правопреемства </a:t>
            </a:r>
          </a:p>
        </p:txBody>
      </p:sp>
    </p:spTree>
    <p:extLst>
      <p:ext uri="{BB962C8B-B14F-4D97-AF65-F5344CB8AC3E}">
        <p14:creationId xmlns:p14="http://schemas.microsoft.com/office/powerpoint/2010/main" val="4263210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A56A0-595A-4B8B-AB84-90815BF9F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66725"/>
            <a:ext cx="5257800" cy="738188"/>
          </a:xfrm>
        </p:spPr>
        <p:txBody>
          <a:bodyPr/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Общие 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7FFD6F-B179-4A88-BE7D-1EDF1044B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77" y="2843932"/>
            <a:ext cx="5710718" cy="26341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C832A6F0-2700-4CE8-8949-0FE8EB376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265944"/>
              </p:ext>
            </p:extLst>
          </p:nvPr>
        </p:nvGraphicFramePr>
        <p:xfrm>
          <a:off x="728486" y="2843932"/>
          <a:ext cx="10735027" cy="1971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1886">
                  <a:extLst>
                    <a:ext uri="{9D8B030D-6E8A-4147-A177-3AD203B41FA5}">
                      <a16:colId xmlns:a16="http://schemas.microsoft.com/office/drawing/2014/main" val="1189344967"/>
                    </a:ext>
                  </a:extLst>
                </a:gridCol>
                <a:gridCol w="5273141">
                  <a:extLst>
                    <a:ext uri="{9D8B030D-6E8A-4147-A177-3AD203B41FA5}">
                      <a16:colId xmlns:a16="http://schemas.microsoft.com/office/drawing/2014/main" val="2859086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Для ремонта зданий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Для уборки зданий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610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Общее количество контрактов: 1000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Общая сумма контрактов: 2 838 964 547 руб.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Общее количество исполнителей: 388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Общее количество контрактов: 1000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Общая сумма контрактов: 2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956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463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209 руб.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Общее количество исполнителей: 287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925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4816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22CB8D-983C-4589-85E5-BDB26BB6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937" y="0"/>
            <a:ext cx="5590563" cy="1325563"/>
          </a:xfrm>
        </p:spPr>
        <p:txBody>
          <a:bodyPr/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Распределение данных по ремонту зданий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66333A2-5020-4827-8EDC-9AE91F278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5460" y="1631044"/>
            <a:ext cx="3861079" cy="3063168"/>
          </a:xfrm>
          <a:prstGeom prst="rect">
            <a:avLst/>
          </a:prstGeom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BE96FFB8-1F85-4624-91AE-9D93AE0CF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008" y="1631044"/>
            <a:ext cx="3921937" cy="306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1AF89C-3862-4BD7-9D29-FB8D5B8A15D8}"/>
              </a:ext>
            </a:extLst>
          </p:cNvPr>
          <p:cNvSpPr txBox="1"/>
          <p:nvPr/>
        </p:nvSpPr>
        <p:spPr>
          <a:xfrm>
            <a:off x="318782" y="4991450"/>
            <a:ext cx="6535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Видно что данные имеют сильный перекос влево, это означает, что в дальнейшем нам надо будет бороться с длинными хвостами в данных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995FD1E-809F-4D11-BA4F-C2CDBD6D2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02" y="1631044"/>
            <a:ext cx="3894889" cy="306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10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F46890-CE6D-490C-B9A6-D0CDF773F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63789"/>
            <a:ext cx="5950591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Финансовые показатели исполнителей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исполнителей по ремонту зданий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FCB106-257C-426D-BA1D-63C0CBDA8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6125" y="2416029"/>
            <a:ext cx="6249798" cy="20106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Видно, что у большинства исполнителей показатели прибыли находятся в области 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≈</a:t>
            </a:r>
            <a:r>
              <a:rPr lang="ru-RU" dirty="0"/>
              <a:t>(-300 000</a:t>
            </a:r>
            <a:r>
              <a:rPr lang="en-US" dirty="0"/>
              <a:t>, 300 000</a:t>
            </a:r>
            <a:r>
              <a:rPr lang="ru-RU" dirty="0"/>
              <a:t>)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B7D1395-0D26-4895-8EE4-B8F09F104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77" y="1979800"/>
            <a:ext cx="5032953" cy="3926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193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3A982-2C5E-471F-B7F7-BF36AB92B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2295" y="290512"/>
            <a:ext cx="6157518" cy="1009651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Данные в разрезе исполнителей для ремонта зданий</a:t>
            </a: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3130A211-E450-4193-A7D4-A9FE096395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8413697"/>
              </p:ext>
            </p:extLst>
          </p:nvPr>
        </p:nvGraphicFramePr>
        <p:xfrm>
          <a:off x="1154440" y="1977765"/>
          <a:ext cx="9435710" cy="34994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134621">
                  <a:extLst>
                    <a:ext uri="{9D8B030D-6E8A-4147-A177-3AD203B41FA5}">
                      <a16:colId xmlns:a16="http://schemas.microsoft.com/office/drawing/2014/main" val="3870020264"/>
                    </a:ext>
                  </a:extLst>
                </a:gridCol>
                <a:gridCol w="1985328">
                  <a:extLst>
                    <a:ext uri="{9D8B030D-6E8A-4147-A177-3AD203B41FA5}">
                      <a16:colId xmlns:a16="http://schemas.microsoft.com/office/drawing/2014/main" val="3632875416"/>
                    </a:ext>
                  </a:extLst>
                </a:gridCol>
                <a:gridCol w="2435225">
                  <a:extLst>
                    <a:ext uri="{9D8B030D-6E8A-4147-A177-3AD203B41FA5}">
                      <a16:colId xmlns:a16="http://schemas.microsoft.com/office/drawing/2014/main" val="1513017489"/>
                    </a:ext>
                  </a:extLst>
                </a:gridCol>
                <a:gridCol w="1880536">
                  <a:extLst>
                    <a:ext uri="{9D8B030D-6E8A-4147-A177-3AD203B41FA5}">
                      <a16:colId xmlns:a16="http://schemas.microsoft.com/office/drawing/2014/main" val="1684615366"/>
                    </a:ext>
                  </a:extLst>
                </a:gridCol>
              </a:tblGrid>
              <a:tr h="43622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Показатель         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Сумма контрактов (руб.)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Средняя цена контракта (руб.)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Количество контрактов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69511976"/>
                  </a:ext>
                </a:extLst>
              </a:tr>
              <a:tr h="192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исполнителей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388  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388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388   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54685840"/>
                  </a:ext>
                </a:extLst>
              </a:tr>
              <a:tr h="19268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Среднее значение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7 283 234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4 348 836     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2.57                   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091302"/>
                  </a:ext>
                </a:extLst>
              </a:tr>
              <a:tr h="192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Разброс значений (стандартное отклонение)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20 935 845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14 231 905 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7.06                   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5525957"/>
                  </a:ext>
                </a:extLst>
              </a:tr>
              <a:tr h="192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Минимальное значение 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4 611   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4 611       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1.00              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92023878"/>
                  </a:ext>
                </a:extLst>
              </a:tr>
              <a:tr h="19268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25-й </a:t>
                      </a:r>
                      <a:r>
                        <a:rPr lang="ru-RU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процентиль</a:t>
                      </a: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(нижняя граница типичных значений)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132 133 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112 839      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1.00                   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111261"/>
                  </a:ext>
                </a:extLst>
              </a:tr>
              <a:tr h="19268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Типичное значение (медиана)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fontAlgn="b"/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551 036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359 919      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1.00              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3196016"/>
                  </a:ext>
                </a:extLst>
              </a:tr>
              <a:tr h="192680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75-й </a:t>
                      </a:r>
                      <a:r>
                        <a:rPr lang="ru-RU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процентиль</a:t>
                      </a: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(верхняя граница типичных значений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3 737 617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1 862 629    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2.00              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9628996"/>
                  </a:ext>
                </a:extLst>
              </a:tr>
              <a:tr h="192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Максимальное значение 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169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174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15 885 299     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113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3869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65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0767BF6-02B5-4460-B02F-BAB6B9E518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0262275"/>
              </p:ext>
            </p:extLst>
          </p:nvPr>
        </p:nvGraphicFramePr>
        <p:xfrm>
          <a:off x="1384310" y="1728001"/>
          <a:ext cx="8964751" cy="398716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44185">
                  <a:extLst>
                    <a:ext uri="{9D8B030D-6E8A-4147-A177-3AD203B41FA5}">
                      <a16:colId xmlns:a16="http://schemas.microsoft.com/office/drawing/2014/main" val="3325616227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1899510069"/>
                    </a:ext>
                  </a:extLst>
                </a:gridCol>
                <a:gridCol w="2355850">
                  <a:extLst>
                    <a:ext uri="{9D8B030D-6E8A-4147-A177-3AD203B41FA5}">
                      <a16:colId xmlns:a16="http://schemas.microsoft.com/office/drawing/2014/main" val="2106185835"/>
                    </a:ext>
                  </a:extLst>
                </a:gridCol>
                <a:gridCol w="1573941">
                  <a:extLst>
                    <a:ext uri="{9D8B030D-6E8A-4147-A177-3AD203B41FA5}">
                      <a16:colId xmlns:a16="http://schemas.microsoft.com/office/drawing/2014/main" val="2875588721"/>
                    </a:ext>
                  </a:extLst>
                </a:gridCol>
              </a:tblGrid>
              <a:tr h="2197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Показатель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Сумма контрактов (руб.)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цена контракта (руб.)</a:t>
                      </a:r>
                      <a:endParaRPr lang="ru-RU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контрактов</a:t>
                      </a:r>
                      <a:endParaRPr lang="ru-RU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87367489"/>
                  </a:ext>
                </a:extLst>
              </a:tr>
              <a:tr h="21974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исполнителей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2325134"/>
                  </a:ext>
                </a:extLst>
              </a:tr>
              <a:tr h="219741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Среднее значение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9 835 177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2 957 330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313010"/>
                  </a:ext>
                </a:extLst>
              </a:tr>
              <a:tr h="21974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Разброс значений </a:t>
                      </a:r>
                    </a:p>
                    <a:p>
                      <a:pPr algn="l" fontAlgn="ct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(стандартное отклонение)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20 242 091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6 148 321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5.18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0374515"/>
                  </a:ext>
                </a:extLst>
              </a:tr>
              <a:tr h="21974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Минимальное значение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7 806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7 806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321478"/>
                  </a:ext>
                </a:extLst>
              </a:tr>
              <a:tr h="219741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25-й </a:t>
                      </a:r>
                      <a:r>
                        <a:rPr lang="ru-RU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процентиль</a:t>
                      </a: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l" fontAlgn="b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(нижняя граница типичных значений)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627 997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352 509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399222"/>
                  </a:ext>
                </a:extLst>
              </a:tr>
              <a:tr h="219741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Типичное значение (медиана)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1 814 701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1 098 354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ru-RU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0542898"/>
                  </a:ext>
                </a:extLst>
              </a:tr>
              <a:tr h="219741">
                <a:tc>
                  <a:txBody>
                    <a:bodyPr/>
                    <a:lstStyle/>
                    <a:p>
                      <a:pPr algn="l" fontAlgn="b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75-й </a:t>
                      </a:r>
                      <a:r>
                        <a:rPr lang="ru-RU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процентиль</a:t>
                      </a:r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l" fontAlgn="b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(верхняя граница типичных значений)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8 643 764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2 496 720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48917680"/>
                  </a:ext>
                </a:extLst>
              </a:tr>
              <a:tr h="21974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Максимальное значение 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136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67 443 982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46.00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19022061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5B07B07-4A22-4755-BA7E-580FE2E23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2295" y="290512"/>
            <a:ext cx="6157518" cy="1009651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Данные в разрезе исполнителей для уборки зданий</a:t>
            </a:r>
          </a:p>
        </p:txBody>
      </p:sp>
    </p:spTree>
    <p:extLst>
      <p:ext uri="{BB962C8B-B14F-4D97-AF65-F5344CB8AC3E}">
        <p14:creationId xmlns:p14="http://schemas.microsoft.com/office/powerpoint/2010/main" val="2116600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0C1229-9EBD-4DF8-8FFD-497247DC1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5392" y="144207"/>
            <a:ext cx="5556504" cy="1073659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Данные в разрезе исполнителей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B30369-52F5-48C9-88B0-FB39BE883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496" y="1462197"/>
            <a:ext cx="6806184" cy="5152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Показатели для исполнителей ремонта зданий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4B0DB2E-1B7D-4E41-8AFC-ED4AE94AB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00556"/>
              </p:ext>
            </p:extLst>
          </p:nvPr>
        </p:nvGraphicFramePr>
        <p:xfrm>
          <a:off x="384918" y="2011807"/>
          <a:ext cx="7634986" cy="1737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20616">
                  <a:extLst>
                    <a:ext uri="{9D8B030D-6E8A-4147-A177-3AD203B41FA5}">
                      <a16:colId xmlns:a16="http://schemas.microsoft.com/office/drawing/2014/main" val="895605923"/>
                    </a:ext>
                  </a:extLst>
                </a:gridCol>
                <a:gridCol w="1433296">
                  <a:extLst>
                    <a:ext uri="{9D8B030D-6E8A-4147-A177-3AD203B41FA5}">
                      <a16:colId xmlns:a16="http://schemas.microsoft.com/office/drawing/2014/main" val="3188472906"/>
                    </a:ext>
                  </a:extLst>
                </a:gridCol>
                <a:gridCol w="2679486">
                  <a:extLst>
                    <a:ext uri="{9D8B030D-6E8A-4147-A177-3AD203B41FA5}">
                      <a16:colId xmlns:a16="http://schemas.microsoft.com/office/drawing/2014/main" val="1342137852"/>
                    </a:ext>
                  </a:extLst>
                </a:gridCol>
                <a:gridCol w="901588">
                  <a:extLst>
                    <a:ext uri="{9D8B030D-6E8A-4147-A177-3AD203B41FA5}">
                      <a16:colId xmlns:a16="http://schemas.microsoft.com/office/drawing/2014/main" val="36611823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Показатель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Среднее (руб.)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Стандартное отклонение (руб.)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CV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486134"/>
                  </a:ext>
                </a:extLst>
              </a:tr>
              <a:tr h="159226">
                <a:tc>
                  <a:txBody>
                    <a:bodyPr/>
                    <a:lstStyle/>
                    <a:p>
                      <a:r>
                        <a:rPr lang="ru-RU"/>
                        <a:t>Сумма контрактов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7 283 234.95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20 935 845.13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≈ 287%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6920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Средняя цена контракта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4 348 836.53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14 231 905.62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/>
                        <a:t>≈ 327%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27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Количество контрактов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2.57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7.06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≈ 275%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7931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0AEBAA-588B-452B-80DA-CB77FB4218A3}"/>
              </a:ext>
            </a:extLst>
          </p:cNvPr>
          <p:cNvSpPr txBox="1"/>
          <p:nvPr/>
        </p:nvSpPr>
        <p:spPr>
          <a:xfrm>
            <a:off x="292496" y="6236214"/>
            <a:ext cx="2993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CV – </a:t>
            </a:r>
            <a:r>
              <a:rPr lang="ru-RU" dirty="0"/>
              <a:t>коэффициент вариации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B09FDBE-A3E5-4B25-94E7-795C6C70D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075121"/>
              </p:ext>
            </p:extLst>
          </p:nvPr>
        </p:nvGraphicFramePr>
        <p:xfrm>
          <a:off x="384919" y="4426143"/>
          <a:ext cx="7634987" cy="1737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96960">
                  <a:extLst>
                    <a:ext uri="{9D8B030D-6E8A-4147-A177-3AD203B41FA5}">
                      <a16:colId xmlns:a16="http://schemas.microsoft.com/office/drawing/2014/main" val="3062247115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3482060441"/>
                    </a:ext>
                  </a:extLst>
                </a:gridCol>
                <a:gridCol w="2681542">
                  <a:extLst>
                    <a:ext uri="{9D8B030D-6E8A-4147-A177-3AD203B41FA5}">
                      <a16:colId xmlns:a16="http://schemas.microsoft.com/office/drawing/2014/main" val="3407753039"/>
                    </a:ext>
                  </a:extLst>
                </a:gridCol>
                <a:gridCol w="916305">
                  <a:extLst>
                    <a:ext uri="{9D8B030D-6E8A-4147-A177-3AD203B41FA5}">
                      <a16:colId xmlns:a16="http://schemas.microsoft.com/office/drawing/2014/main" val="1856633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Показатель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Среднее (руб.)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Стандартное отклонение (руб.)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CV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318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Сумма контрактов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9 835 177.77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20 242 091.60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≈ 206%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388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Средняя цена контракта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2 957 330.51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6 148 321.46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/>
                        <a:t>≈ 208%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9225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Количество контрактов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3.45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5.18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≈ 150%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0095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81D7C59-8122-48B5-A79A-9D57BF9A0F8B}"/>
              </a:ext>
            </a:extLst>
          </p:cNvPr>
          <p:cNvSpPr txBox="1"/>
          <p:nvPr/>
        </p:nvSpPr>
        <p:spPr>
          <a:xfrm>
            <a:off x="292496" y="3953425"/>
            <a:ext cx="6202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Показатели для исполнителей уборки зданий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99D83819-701E-4253-802D-58D4AB41F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930" y="2258663"/>
            <a:ext cx="3867250" cy="303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931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73D5EA8-8493-48DD-868D-772BE0F33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768" y="151441"/>
            <a:ext cx="5447488" cy="1205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Количество уникальных исполнителей в разрезе исполнение завершено/прекращено</a:t>
            </a:r>
          </a:p>
          <a:p>
            <a:pPr marL="0" indent="0">
              <a:buNone/>
            </a:pPr>
            <a:endParaRPr lang="ru-RU" sz="2400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97366969-60A7-4879-8B7D-C772F75C3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772452"/>
              </p:ext>
            </p:extLst>
          </p:nvPr>
        </p:nvGraphicFramePr>
        <p:xfrm>
          <a:off x="796255" y="2474969"/>
          <a:ext cx="8200074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5893">
                  <a:extLst>
                    <a:ext uri="{9D8B030D-6E8A-4147-A177-3AD203B41FA5}">
                      <a16:colId xmlns:a16="http://schemas.microsoft.com/office/drawing/2014/main" val="2793512780"/>
                    </a:ext>
                  </a:extLst>
                </a:gridCol>
                <a:gridCol w="3983038">
                  <a:extLst>
                    <a:ext uri="{9D8B030D-6E8A-4147-A177-3AD203B41FA5}">
                      <a16:colId xmlns:a16="http://schemas.microsoft.com/office/drawing/2014/main" val="3790619036"/>
                    </a:ext>
                  </a:extLst>
                </a:gridCol>
                <a:gridCol w="1521143">
                  <a:extLst>
                    <a:ext uri="{9D8B030D-6E8A-4147-A177-3AD203B41FA5}">
                      <a16:colId xmlns:a16="http://schemas.microsoft.com/office/drawing/2014/main" val="1880595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Статус контракта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уникальных исполнителей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Пересечение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722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Исполнение завершено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355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639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Исполнение прекращено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75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8448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5F61BB-82DB-447A-8273-F713535CAA79}"/>
              </a:ext>
            </a:extLst>
          </p:cNvPr>
          <p:cNvSpPr txBox="1"/>
          <p:nvPr/>
        </p:nvSpPr>
        <p:spPr>
          <a:xfrm>
            <a:off x="796255" y="2105637"/>
            <a:ext cx="3901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ремонта зданий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B2C29-7064-4D6F-9D53-A0AD31D05AAA}"/>
              </a:ext>
            </a:extLst>
          </p:cNvPr>
          <p:cNvSpPr txBox="1"/>
          <p:nvPr/>
        </p:nvSpPr>
        <p:spPr>
          <a:xfrm>
            <a:off x="796255" y="3851931"/>
            <a:ext cx="3272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уборки зданий</a:t>
            </a:r>
          </a:p>
        </p:txBody>
      </p:sp>
      <p:graphicFrame>
        <p:nvGraphicFramePr>
          <p:cNvPr id="7" name="Таблица 4">
            <a:extLst>
              <a:ext uri="{FF2B5EF4-FFF2-40B4-BE49-F238E27FC236}">
                <a16:creationId xmlns:a16="http://schemas.microsoft.com/office/drawing/2014/main" id="{680F0B58-B17A-4920-9517-67172A162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7438"/>
              </p:ext>
            </p:extLst>
          </p:nvPr>
        </p:nvGraphicFramePr>
        <p:xfrm>
          <a:off x="796255" y="4403818"/>
          <a:ext cx="8200074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5893">
                  <a:extLst>
                    <a:ext uri="{9D8B030D-6E8A-4147-A177-3AD203B41FA5}">
                      <a16:colId xmlns:a16="http://schemas.microsoft.com/office/drawing/2014/main" val="2793512780"/>
                    </a:ext>
                  </a:extLst>
                </a:gridCol>
                <a:gridCol w="3983038">
                  <a:extLst>
                    <a:ext uri="{9D8B030D-6E8A-4147-A177-3AD203B41FA5}">
                      <a16:colId xmlns:a16="http://schemas.microsoft.com/office/drawing/2014/main" val="3790619036"/>
                    </a:ext>
                  </a:extLst>
                </a:gridCol>
                <a:gridCol w="1521143">
                  <a:extLst>
                    <a:ext uri="{9D8B030D-6E8A-4147-A177-3AD203B41FA5}">
                      <a16:colId xmlns:a16="http://schemas.microsoft.com/office/drawing/2014/main" val="3479461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Статус контракта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уникальных исполнителей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Пересечение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722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Исполнение завершено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244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639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Исполнение прекращено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844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4320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6C4C3-2A3D-4DDD-A2C8-706BD9EA3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406" y="436228"/>
            <a:ext cx="5414394" cy="776288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Кластерный анализ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11FE80-4EE7-4BDF-BA2C-51EC81FB5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9947" y="2196270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Признаки для кластеризации: 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Количество контрактов у исполнителя 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Средняя цена контракта </a:t>
            </a:r>
          </a:p>
          <a:p>
            <a:pPr marL="0" indent="0">
              <a:buNone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Метод кластеризации:</a:t>
            </a:r>
          </a:p>
          <a:p>
            <a:pPr marL="0" indent="0"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Иерархическая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9084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D97156-7ACF-47C0-9C30-236D94D8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3354" y="244810"/>
            <a:ext cx="4818776" cy="1009651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Кластерный анализ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6FCC27-29E4-4F2A-8142-2863967DD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5273"/>
            <a:ext cx="10515600" cy="5316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Рассмотрим кластеризацию неочищенных от выбросов данных</a:t>
            </a:r>
            <a:r>
              <a:rPr lang="en-US" sz="2400" dirty="0"/>
              <a:t>: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1088E-0574-4259-9CFB-76A28980D271}"/>
              </a:ext>
            </a:extLst>
          </p:cNvPr>
          <p:cNvSpPr txBox="1"/>
          <p:nvPr/>
        </p:nvSpPr>
        <p:spPr>
          <a:xfrm>
            <a:off x="838199" y="3087622"/>
            <a:ext cx="10779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Неочищенные данные приведем к логарифмической шкале чтобы убрать большие хвосты, а далее стандартизируем методом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MinMax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 отрезке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[0,1]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55F2F-9B7D-401E-AC19-577E7C25297C}"/>
              </a:ext>
            </a:extLst>
          </p:cNvPr>
          <p:cNvSpPr txBox="1"/>
          <p:nvPr/>
        </p:nvSpPr>
        <p:spPr>
          <a:xfrm>
            <a:off x="838199" y="4032497"/>
            <a:ext cx="100758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Рассматривать кластеризацию на очищенных от выбросов данных будет некорректно, так как их удаление приведет к потере важной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418194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7CCD59-095B-43E2-B217-8AD0A1EE3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181" y="293309"/>
            <a:ext cx="6420376" cy="793066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 числа кластеров для ремонта зданий на неочищенных от выбросов  данных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7B439-800D-4DEC-B0E2-076B58229718}"/>
              </a:ext>
            </a:extLst>
          </p:cNvPr>
          <p:cNvSpPr txBox="1"/>
          <p:nvPr/>
        </p:nvSpPr>
        <p:spPr>
          <a:xfrm>
            <a:off x="7019136" y="2437191"/>
            <a:ext cx="30452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На уровне </a:t>
            </a:r>
            <a:r>
              <a:rPr lang="en-US" sz="2000" dirty="0"/>
              <a:t>3-</a:t>
            </a:r>
            <a:r>
              <a:rPr lang="ru-RU" sz="2000" dirty="0"/>
              <a:t>х и 4</a:t>
            </a:r>
            <a:r>
              <a:rPr lang="en-US" sz="2000" dirty="0"/>
              <a:t>-x</a:t>
            </a:r>
            <a:r>
              <a:rPr lang="ru-RU" sz="2000" dirty="0"/>
              <a:t> кластеров можно выделить локоть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4CC7841-09DA-4C66-9AFE-823EEFAC5474}"/>
              </a:ext>
            </a:extLst>
          </p:cNvPr>
          <p:cNvGrpSpPr/>
          <p:nvPr/>
        </p:nvGrpSpPr>
        <p:grpSpPr>
          <a:xfrm>
            <a:off x="502903" y="2164359"/>
            <a:ext cx="5953985" cy="3607266"/>
            <a:chOff x="502903" y="2164359"/>
            <a:chExt cx="5953985" cy="3607266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55EFC8FE-0463-4226-B09B-7D865ABDF3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903" y="2164359"/>
              <a:ext cx="5953985" cy="36072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54D1BD7D-B3F2-434B-9A22-E87E4EA13660}"/>
                </a:ext>
              </a:extLst>
            </p:cNvPr>
            <p:cNvCxnSpPr/>
            <p:nvPr/>
          </p:nvCxnSpPr>
          <p:spPr>
            <a:xfrm>
              <a:off x="5445125" y="4156075"/>
              <a:ext cx="0" cy="112395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84DE4DC4-CD27-4DCB-84E6-3545FEECE157}"/>
                </a:ext>
              </a:extLst>
            </p:cNvPr>
            <p:cNvCxnSpPr/>
            <p:nvPr/>
          </p:nvCxnSpPr>
          <p:spPr>
            <a:xfrm>
              <a:off x="5092700" y="4470400"/>
              <a:ext cx="0" cy="80962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1693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CF06D-6888-4D7F-B800-28B33DA0D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0892" y="184035"/>
            <a:ext cx="5708009" cy="99400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Результат иерархической кластеризации данных с выбросами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225096-911D-40FD-BEE1-7061EF686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7A5C0B8-9212-4C0E-88D5-393E83DEF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968" y="1705363"/>
            <a:ext cx="9268063" cy="459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9937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EE9D4-7551-4E05-B78E-DDFD1247B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794" y="271462"/>
            <a:ext cx="6244206" cy="1009651"/>
          </a:xfrm>
        </p:spPr>
        <p:txBody>
          <a:bodyPr>
            <a:no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Кластеризация для ремонта зданий на логарифмированных данных </a:t>
            </a:r>
            <a:b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(4 кластера)</a:t>
            </a:r>
          </a:p>
        </p:txBody>
      </p:sp>
      <p:graphicFrame>
        <p:nvGraphicFramePr>
          <p:cNvPr id="15" name="Таблица 15">
            <a:extLst>
              <a:ext uri="{FF2B5EF4-FFF2-40B4-BE49-F238E27FC236}">
                <a16:creationId xmlns:a16="http://schemas.microsoft.com/office/drawing/2014/main" id="{55370C93-A0A5-4798-9F1C-6C8932453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423633"/>
              </p:ext>
            </p:extLst>
          </p:nvPr>
        </p:nvGraphicFramePr>
        <p:xfrm>
          <a:off x="6277064" y="1734538"/>
          <a:ext cx="5619752" cy="4023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04938">
                  <a:extLst>
                    <a:ext uri="{9D8B030D-6E8A-4147-A177-3AD203B41FA5}">
                      <a16:colId xmlns:a16="http://schemas.microsoft.com/office/drawing/2014/main" val="566786437"/>
                    </a:ext>
                  </a:extLst>
                </a:gridCol>
                <a:gridCol w="1404938">
                  <a:extLst>
                    <a:ext uri="{9D8B030D-6E8A-4147-A177-3AD203B41FA5}">
                      <a16:colId xmlns:a16="http://schemas.microsoft.com/office/drawing/2014/main" val="2146193671"/>
                    </a:ext>
                  </a:extLst>
                </a:gridCol>
                <a:gridCol w="1404938">
                  <a:extLst>
                    <a:ext uri="{9D8B030D-6E8A-4147-A177-3AD203B41FA5}">
                      <a16:colId xmlns:a16="http://schemas.microsoft.com/office/drawing/2014/main" val="867412434"/>
                    </a:ext>
                  </a:extLst>
                </a:gridCol>
                <a:gridCol w="1404938">
                  <a:extLst>
                    <a:ext uri="{9D8B030D-6E8A-4147-A177-3AD203B41FA5}">
                      <a16:colId xmlns:a16="http://schemas.microsoft.com/office/drawing/2014/main" val="1483314631"/>
                    </a:ext>
                  </a:extLst>
                </a:gridCol>
              </a:tblGrid>
              <a:tr h="2688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Средняя цена контракта (руб.)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Количество контрактов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компаний в кластере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404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Кластер 1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126892.07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1.39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544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Кластер 2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1799027.66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1.24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592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Кластер 3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1471608.81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12.42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499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Кластер 4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31008407.00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1.47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935158"/>
                  </a:ext>
                </a:extLst>
              </a:tr>
            </a:tbl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0CB43596-2509-4451-8BFF-EAFEC5BAF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5" y="1734538"/>
            <a:ext cx="6023295" cy="4498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687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EB15BC-ADA4-4EA9-87DE-B7A92C533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262" y="286338"/>
            <a:ext cx="6236516" cy="1009651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Кластеризация для ремонта зданий на логарифмированных данных </a:t>
            </a:r>
            <a:b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(3 кластера)</a:t>
            </a:r>
          </a:p>
        </p:txBody>
      </p:sp>
      <p:graphicFrame>
        <p:nvGraphicFramePr>
          <p:cNvPr id="5" name="Таблица 15">
            <a:extLst>
              <a:ext uri="{FF2B5EF4-FFF2-40B4-BE49-F238E27FC236}">
                <a16:creationId xmlns:a16="http://schemas.microsoft.com/office/drawing/2014/main" id="{6FC3FFB0-1E9B-47B9-8C45-28678FA76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093065"/>
              </p:ext>
            </p:extLst>
          </p:nvPr>
        </p:nvGraphicFramePr>
        <p:xfrm>
          <a:off x="6521040" y="1992692"/>
          <a:ext cx="5670960" cy="342015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17740">
                  <a:extLst>
                    <a:ext uri="{9D8B030D-6E8A-4147-A177-3AD203B41FA5}">
                      <a16:colId xmlns:a16="http://schemas.microsoft.com/office/drawing/2014/main" val="566786437"/>
                    </a:ext>
                  </a:extLst>
                </a:gridCol>
                <a:gridCol w="1417740">
                  <a:extLst>
                    <a:ext uri="{9D8B030D-6E8A-4147-A177-3AD203B41FA5}">
                      <a16:colId xmlns:a16="http://schemas.microsoft.com/office/drawing/2014/main" val="2146193671"/>
                    </a:ext>
                  </a:extLst>
                </a:gridCol>
                <a:gridCol w="1417740">
                  <a:extLst>
                    <a:ext uri="{9D8B030D-6E8A-4147-A177-3AD203B41FA5}">
                      <a16:colId xmlns:a16="http://schemas.microsoft.com/office/drawing/2014/main" val="867412434"/>
                    </a:ext>
                  </a:extLst>
                </a:gridCol>
                <a:gridCol w="1417740">
                  <a:extLst>
                    <a:ext uri="{9D8B030D-6E8A-4147-A177-3AD203B41FA5}">
                      <a16:colId xmlns:a16="http://schemas.microsoft.com/office/drawing/2014/main" val="1483314631"/>
                    </a:ext>
                  </a:extLst>
                </a:gridCol>
              </a:tblGrid>
              <a:tr h="1478985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Средняя цена контракта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(руб.)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Количество контрактов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компаний в кластере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404274"/>
                  </a:ext>
                </a:extLst>
              </a:tr>
              <a:tr h="647056">
                <a:tc>
                  <a:txBody>
                    <a:bodyPr/>
                    <a:lstStyle/>
                    <a:p>
                      <a:r>
                        <a:rPr lang="ru-RU" dirty="0"/>
                        <a:t>Кластер 1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1268921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1.38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544135"/>
                  </a:ext>
                </a:extLst>
              </a:tr>
              <a:tr h="6470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Кластер 2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1006583</a:t>
                      </a:r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1.30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592866"/>
                  </a:ext>
                </a:extLst>
              </a:tr>
              <a:tr h="6470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Кластер 3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1471609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12.42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499604"/>
                  </a:ext>
                </a:extLst>
              </a:tr>
            </a:tbl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16535C8C-2E4C-456F-AC7E-64413DBB8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736521"/>
            <a:ext cx="6368951" cy="475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8271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AEFDB-BFF0-4C8D-8C3B-5CD7D3620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4691" y="310393"/>
            <a:ext cx="6328794" cy="885345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Интерпретация кластеров</a:t>
            </a:r>
            <a:b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для ремонта зданий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3B6CF193-A036-4FB0-BD7A-8C403C3F6B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5537605"/>
              </p:ext>
            </p:extLst>
          </p:nvPr>
        </p:nvGraphicFramePr>
        <p:xfrm>
          <a:off x="838200" y="1985016"/>
          <a:ext cx="10515600" cy="338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3389">
                  <a:extLst>
                    <a:ext uri="{9D8B030D-6E8A-4147-A177-3AD203B41FA5}">
                      <a16:colId xmlns:a16="http://schemas.microsoft.com/office/drawing/2014/main" val="2592259239"/>
                    </a:ext>
                  </a:extLst>
                </a:gridCol>
                <a:gridCol w="8602211">
                  <a:extLst>
                    <a:ext uri="{9D8B030D-6E8A-4147-A177-3AD203B41FA5}">
                      <a16:colId xmlns:a16="http://schemas.microsoft.com/office/drawing/2014/main" val="3736914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 кластер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Мелкие исполнители: заключают мало контрактов (≈1), и каждый контракт сравнительно небольшой по цене. Это «</a:t>
                      </a:r>
                      <a:r>
                        <a:rPr lang="ru-RU" dirty="0" err="1"/>
                        <a:t>микроподрядчики</a:t>
                      </a:r>
                      <a:r>
                        <a:rPr lang="ru-RU" dirty="0"/>
                        <a:t>».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86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 кластер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Тоже малое число контрактов, но средняя цена уже в десятки раз выше. Компании-«</a:t>
                      </a:r>
                      <a:r>
                        <a:rPr lang="ru-RU" dirty="0" err="1"/>
                        <a:t>нишевики</a:t>
                      </a:r>
                      <a:r>
                        <a:rPr lang="ru-RU" dirty="0"/>
                        <a:t>»: редко участвуют, но берут дорогие контракты.</a:t>
                      </a:r>
                    </a:p>
                    <a:p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1382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 кластер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Исполнители среднего уровня: заключают довольно много контрактов (≈12), и каждый в среднем на 1.5 млн ₽. Это «массовые игроки средней руки».</a:t>
                      </a:r>
                    </a:p>
                    <a:p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89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 кластер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Редкие, но очень крупные сделки. Крупные компании или уникальные поставщики, которые берут контракты на десятки миллионов, но не часто.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280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8527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37DC0-444B-4827-9990-4712A70E6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105066"/>
            <a:ext cx="5489895" cy="1325563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 числа кластеров для клининга на неочищенных данных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C0CDF5-B252-4DD7-AD59-55C198D4D76F}"/>
              </a:ext>
            </a:extLst>
          </p:cNvPr>
          <p:cNvSpPr txBox="1"/>
          <p:nvPr/>
        </p:nvSpPr>
        <p:spPr>
          <a:xfrm>
            <a:off x="7424257" y="2348917"/>
            <a:ext cx="3129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Можно выделить локоть на уровне 5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E9412D-2696-4999-B67C-F9E35B1A9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546FBAFD-0C33-4E45-A4B3-9524DEFAA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04" y="2217578"/>
            <a:ext cx="657225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723EE1AA-B1B0-492D-90E8-266272D0B38E}"/>
              </a:ext>
            </a:extLst>
          </p:cNvPr>
          <p:cNvCxnSpPr/>
          <p:nvPr/>
        </p:nvCxnSpPr>
        <p:spPr>
          <a:xfrm>
            <a:off x="5259897" y="4664279"/>
            <a:ext cx="0" cy="74662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779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5842B-0BFE-4694-BEED-AE0C2C98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613" y="18255"/>
            <a:ext cx="5771358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Иерархическая кластеризация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948A93-48B1-4455-8E98-3D1229F6B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A6A81454-E9AE-4A8C-96CB-7392D17FC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663" y="1690688"/>
            <a:ext cx="94202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511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EE9D4-7551-4E05-B78E-DDFD1247B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794" y="271462"/>
            <a:ext cx="6244206" cy="1009651"/>
          </a:xfrm>
        </p:spPr>
        <p:txBody>
          <a:bodyPr>
            <a:no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Кластеризация для уборки зданий на логарифмированных данных </a:t>
            </a:r>
            <a:b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(5 кластеров)</a:t>
            </a:r>
          </a:p>
        </p:txBody>
      </p:sp>
      <p:graphicFrame>
        <p:nvGraphicFramePr>
          <p:cNvPr id="15" name="Таблица 15">
            <a:extLst>
              <a:ext uri="{FF2B5EF4-FFF2-40B4-BE49-F238E27FC236}">
                <a16:creationId xmlns:a16="http://schemas.microsoft.com/office/drawing/2014/main" id="{55370C93-A0A5-4798-9F1C-6C8932453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933120"/>
              </p:ext>
            </p:extLst>
          </p:nvPr>
        </p:nvGraphicFramePr>
        <p:xfrm>
          <a:off x="6277064" y="1734538"/>
          <a:ext cx="5619752" cy="41249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04938">
                  <a:extLst>
                    <a:ext uri="{9D8B030D-6E8A-4147-A177-3AD203B41FA5}">
                      <a16:colId xmlns:a16="http://schemas.microsoft.com/office/drawing/2014/main" val="566786437"/>
                    </a:ext>
                  </a:extLst>
                </a:gridCol>
                <a:gridCol w="1404938">
                  <a:extLst>
                    <a:ext uri="{9D8B030D-6E8A-4147-A177-3AD203B41FA5}">
                      <a16:colId xmlns:a16="http://schemas.microsoft.com/office/drawing/2014/main" val="2146193671"/>
                    </a:ext>
                  </a:extLst>
                </a:gridCol>
                <a:gridCol w="1404938">
                  <a:extLst>
                    <a:ext uri="{9D8B030D-6E8A-4147-A177-3AD203B41FA5}">
                      <a16:colId xmlns:a16="http://schemas.microsoft.com/office/drawing/2014/main" val="867412434"/>
                    </a:ext>
                  </a:extLst>
                </a:gridCol>
                <a:gridCol w="1404938">
                  <a:extLst>
                    <a:ext uri="{9D8B030D-6E8A-4147-A177-3AD203B41FA5}">
                      <a16:colId xmlns:a16="http://schemas.microsoft.com/office/drawing/2014/main" val="1483314631"/>
                    </a:ext>
                  </a:extLst>
                </a:gridCol>
              </a:tblGrid>
              <a:tr h="2688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Средняя цена контракта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(руб.)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effectLst/>
                        </a:rPr>
                        <a:t>Количество контрактов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компаний в кластере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404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Кластер 1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2686259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10.5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544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Кластер 2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316832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3.44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592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Кластер 3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6550146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2.77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499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Кластер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4458772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973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Кластер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273132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886116"/>
                  </a:ext>
                </a:extLst>
              </a:tr>
            </a:tbl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5614EA3C-9460-480A-9D7C-3FCAD2582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57" y="1734537"/>
            <a:ext cx="5959674" cy="4456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034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802698-56FD-4046-8552-156306B4D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0590" y="102145"/>
            <a:ext cx="624141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Интерпретация кластеров</a:t>
            </a:r>
            <a:b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для уборки зданий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EF2FDF-1CE9-4270-8CCF-94CA992C8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B53536FE-8987-482E-AAD0-292048D450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2987951"/>
              </p:ext>
            </p:extLst>
          </p:nvPr>
        </p:nvGraphicFramePr>
        <p:xfrm>
          <a:off x="838200" y="2401094"/>
          <a:ext cx="105156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3389">
                  <a:extLst>
                    <a:ext uri="{9D8B030D-6E8A-4147-A177-3AD203B41FA5}">
                      <a16:colId xmlns:a16="http://schemas.microsoft.com/office/drawing/2014/main" val="2592259239"/>
                    </a:ext>
                  </a:extLst>
                </a:gridCol>
                <a:gridCol w="8602211">
                  <a:extLst>
                    <a:ext uri="{9D8B030D-6E8A-4147-A177-3AD203B41FA5}">
                      <a16:colId xmlns:a16="http://schemas.microsoft.com/office/drawing/2014/main" val="3736914070"/>
                    </a:ext>
                  </a:extLst>
                </a:gridCol>
              </a:tblGrid>
              <a:tr h="355513">
                <a:tc>
                  <a:txBody>
                    <a:bodyPr/>
                    <a:lstStyle/>
                    <a:p>
                      <a:r>
                        <a:rPr lang="ru-RU" dirty="0"/>
                        <a:t>1 кластер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Компании с устойчивой активностью — заключают много контрактов средней стоимости. Вероятно, стабильные исполнители, регулярно выигрывающие закупки.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886305"/>
                  </a:ext>
                </a:extLst>
              </a:tr>
              <a:tr h="369116">
                <a:tc>
                  <a:txBody>
                    <a:bodyPr/>
                    <a:lstStyle/>
                    <a:p>
                      <a:r>
                        <a:rPr lang="ru-RU" dirty="0"/>
                        <a:t>2 кластер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Компании с низкой ценой контрактов, но несколько контрактов в портфеле. Возможно, локальные или нишевые поставщики с небольшими объёмами.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1382823"/>
                  </a:ext>
                </a:extLst>
              </a:tr>
              <a:tr h="377505">
                <a:tc>
                  <a:txBody>
                    <a:bodyPr/>
                    <a:lstStyle/>
                    <a:p>
                      <a:r>
                        <a:rPr lang="ru-RU" dirty="0"/>
                        <a:t>3 кластер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Реализуют немного, но дорогие контракты — возможно, специализированные организации под конкретные крупные объекты.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893903"/>
                  </a:ext>
                </a:extLst>
              </a:tr>
              <a:tr h="427838">
                <a:tc>
                  <a:txBody>
                    <a:bodyPr/>
                    <a:lstStyle/>
                    <a:p>
                      <a:r>
                        <a:rPr lang="ru-RU" dirty="0"/>
                        <a:t>4 кластер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Компании, выполняющие единичный контракт средней стоимости — потенциально новые или эпизодические участники закупок.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280213"/>
                  </a:ext>
                </a:extLst>
              </a:tr>
              <a:tr h="400567">
                <a:tc>
                  <a:txBody>
                    <a:bodyPr/>
                    <a:lstStyle/>
                    <a:p>
                      <a:r>
                        <a:rPr lang="ru-RU" dirty="0"/>
                        <a:t>5 кластер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Самый “низовой” сегмент — дешёвые и единичные контракты. Вероятно, мелкие фирмы или ИП без постоянного участия в торгах.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8391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7650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B70CD-D66D-4B1D-8870-9B6232C08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20" y="88288"/>
            <a:ext cx="603518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 целевой переменной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6B0276-5E97-45F1-9873-E6E0C8694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Целевая переменная: Успешный контракт</a:t>
            </a:r>
          </a:p>
          <a:p>
            <a:pPr marL="0" indent="0">
              <a:lnSpc>
                <a:spcPct val="110000"/>
              </a:lnSpc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Условия успешного контракта: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(Статус контракта: Исполнение завершено)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ru-RU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ИЛИ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(Фактически оплачено / Цена контракта(доля оплаты)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85%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ru-RU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Основание расторжения контракта: соглашение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ru-RU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Причина расторжения контракта: соглашение/в связи с фактическим объемом)</a:t>
            </a:r>
          </a:p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53720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8B433-BE05-4292-B543-CEDEF1AE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298" y="18255"/>
            <a:ext cx="5657675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Распределение переменной успешный контракт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C3C7B2F2-E8EB-4A82-A0CA-36C82A6B0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35" y="1793163"/>
            <a:ext cx="5418896" cy="383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B2BC6ABA-4804-40E3-AA35-EB36ECC5F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842" y="1793163"/>
            <a:ext cx="5297130" cy="383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3B6F7A-646D-49F6-B45E-5CBBC66BAB34}"/>
              </a:ext>
            </a:extLst>
          </p:cNvPr>
          <p:cNvSpPr txBox="1"/>
          <p:nvPr/>
        </p:nvSpPr>
        <p:spPr>
          <a:xfrm>
            <a:off x="430635" y="5897461"/>
            <a:ext cx="596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Успешных контрактов значительно больше, чем неуспешных — будем применять балансировку.</a:t>
            </a:r>
          </a:p>
        </p:txBody>
      </p:sp>
    </p:spTree>
    <p:extLst>
      <p:ext uri="{BB962C8B-B14F-4D97-AF65-F5344CB8AC3E}">
        <p14:creationId xmlns:p14="http://schemas.microsoft.com/office/powerpoint/2010/main" val="392412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76E55E-1B4E-420B-8AAA-76C5E80D9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094" y="138622"/>
            <a:ext cx="4320329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Предсказание успешного контракта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88FFF1-2F45-479A-8F28-81DF453FE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2430" y="2276473"/>
            <a:ext cx="3652706" cy="1325563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Корреляционная матрица для ремонта зданий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8D9CB0-ABFD-4F76-9E49-B9A372116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72564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060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45FF5-D4BD-4DB5-A40C-2F4834E3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224F54-DB94-417C-8707-DF20FF18A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7782" y="2680792"/>
            <a:ext cx="4634218" cy="1496415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Корреляционная матрица для уборки зданий</a:t>
            </a:r>
          </a:p>
          <a:p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54AECED-2040-413B-A07A-9B1F1F8A4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04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67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408D3-25D6-4DDF-A4F5-559E6A5DE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9158" y="244810"/>
            <a:ext cx="5134761" cy="1009651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Используемые показатели качества классификации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49A489E-613D-4791-A57F-8C269F335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979276"/>
              </p:ext>
            </p:extLst>
          </p:nvPr>
        </p:nvGraphicFramePr>
        <p:xfrm>
          <a:off x="3467100" y="2056307"/>
          <a:ext cx="5257800" cy="3383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6955502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1787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b="1" dirty="0"/>
                        <a:t>Показатель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Что измеряет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942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Доля правильных среди всех предсказанных «положительных»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150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Доля найденных «положительных» среди всех реально положительных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1681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доля правильных предсказаний среди всех объектов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0027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236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7B95B-EEC4-4DAA-8E82-51837B653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3224" y="260059"/>
            <a:ext cx="3146571" cy="860178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Результаты для ремонта зданий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6688E6-E164-487D-8F61-F30C161B308D}"/>
              </a:ext>
            </a:extLst>
          </p:cNvPr>
          <p:cNvSpPr txBox="1"/>
          <p:nvPr/>
        </p:nvSpPr>
        <p:spPr>
          <a:xfrm>
            <a:off x="374491" y="2084126"/>
            <a:ext cx="481528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Признаки:</a:t>
            </a:r>
          </a:p>
          <a:p>
            <a:pPr lvl="1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Общие: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Фактически оплачено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Количество контрактов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Доля успешных контрактов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ЛогЦена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Полученные после кластеризации логарифмированных данных: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Cluster_2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Cluster_3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B23E80D-A105-4421-B3B2-96138EB01C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2122337"/>
              </p:ext>
            </p:extLst>
          </p:nvPr>
        </p:nvGraphicFramePr>
        <p:xfrm>
          <a:off x="6096000" y="1790583"/>
          <a:ext cx="5838214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8631">
                  <a:extLst>
                    <a:ext uri="{9D8B030D-6E8A-4147-A177-3AD203B41FA5}">
                      <a16:colId xmlns:a16="http://schemas.microsoft.com/office/drawing/2014/main" val="3445442219"/>
                    </a:ext>
                  </a:extLst>
                </a:gridCol>
                <a:gridCol w="1130808">
                  <a:extLst>
                    <a:ext uri="{9D8B030D-6E8A-4147-A177-3AD203B41FA5}">
                      <a16:colId xmlns:a16="http://schemas.microsoft.com/office/drawing/2014/main" val="3165815733"/>
                    </a:ext>
                  </a:extLst>
                </a:gridCol>
                <a:gridCol w="829785">
                  <a:extLst>
                    <a:ext uri="{9D8B030D-6E8A-4147-A177-3AD203B41FA5}">
                      <a16:colId xmlns:a16="http://schemas.microsoft.com/office/drawing/2014/main" val="2932179242"/>
                    </a:ext>
                  </a:extLst>
                </a:gridCol>
                <a:gridCol w="1038853">
                  <a:extLst>
                    <a:ext uri="{9D8B030D-6E8A-4147-A177-3AD203B41FA5}">
                      <a16:colId xmlns:a16="http://schemas.microsoft.com/office/drawing/2014/main" val="3618420195"/>
                    </a:ext>
                  </a:extLst>
                </a:gridCol>
                <a:gridCol w="1350137">
                  <a:extLst>
                    <a:ext uri="{9D8B030D-6E8A-4147-A177-3AD203B41FA5}">
                      <a16:colId xmlns:a16="http://schemas.microsoft.com/office/drawing/2014/main" val="1850954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145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Неуспешный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84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Успешный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0.98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0.99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904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0.95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0601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8975604-4877-437C-AD92-72557C7615FB}"/>
              </a:ext>
            </a:extLst>
          </p:cNvPr>
          <p:cNvSpPr txBox="1"/>
          <p:nvPr/>
        </p:nvSpPr>
        <p:spPr>
          <a:xfrm>
            <a:off x="6086912" y="3759623"/>
            <a:ext cx="2491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Матрица ошибок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E7DD3597-855A-4F59-8C95-FFCE9CABB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219455"/>
              </p:ext>
            </p:extLst>
          </p:nvPr>
        </p:nvGraphicFramePr>
        <p:xfrm>
          <a:off x="6096000" y="4263505"/>
          <a:ext cx="4289051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8631">
                  <a:extLst>
                    <a:ext uri="{9D8B030D-6E8A-4147-A177-3AD203B41FA5}">
                      <a16:colId xmlns:a16="http://schemas.microsoft.com/office/drawing/2014/main" val="577426134"/>
                    </a:ext>
                  </a:extLst>
                </a:gridCol>
                <a:gridCol w="1488631">
                  <a:extLst>
                    <a:ext uri="{9D8B030D-6E8A-4147-A177-3AD203B41FA5}">
                      <a16:colId xmlns:a16="http://schemas.microsoft.com/office/drawing/2014/main" val="1524438767"/>
                    </a:ext>
                  </a:extLst>
                </a:gridCol>
                <a:gridCol w="1311789">
                  <a:extLst>
                    <a:ext uri="{9D8B030D-6E8A-4147-A177-3AD203B41FA5}">
                      <a16:colId xmlns:a16="http://schemas.microsoft.com/office/drawing/2014/main" val="3429582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Неуспешный</a:t>
                      </a:r>
                    </a:p>
                    <a:p>
                      <a:r>
                        <a:rPr lang="ru-RU" dirty="0"/>
                        <a:t>(факт)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Успешный</a:t>
                      </a:r>
                    </a:p>
                    <a:p>
                      <a:r>
                        <a:rPr lang="ru-RU" dirty="0"/>
                        <a:t>(факт)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38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Неуспешный (прогноз)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9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Успешный</a:t>
                      </a:r>
                    </a:p>
                    <a:p>
                      <a:r>
                        <a:rPr lang="ru-RU" dirty="0"/>
                        <a:t>(прогноз)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534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515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7B95B-EEC4-4DAA-8E82-51837B653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4560" y="402672"/>
            <a:ext cx="3146571" cy="860178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Результаты для уборки зданий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6688E6-E164-487D-8F61-F30C161B308D}"/>
              </a:ext>
            </a:extLst>
          </p:cNvPr>
          <p:cNvSpPr txBox="1"/>
          <p:nvPr/>
        </p:nvSpPr>
        <p:spPr>
          <a:xfrm>
            <a:off x="710051" y="2150558"/>
            <a:ext cx="48152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Признаки: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Фактически оплачено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Доля успешных контрактов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Количество контрактов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ЛогЦена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B23E80D-A105-4421-B3B2-96138EB01C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0966076"/>
              </p:ext>
            </p:extLst>
          </p:nvPr>
        </p:nvGraphicFramePr>
        <p:xfrm>
          <a:off x="6349767" y="1790583"/>
          <a:ext cx="5743195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8631">
                  <a:extLst>
                    <a:ext uri="{9D8B030D-6E8A-4147-A177-3AD203B41FA5}">
                      <a16:colId xmlns:a16="http://schemas.microsoft.com/office/drawing/2014/main" val="3445442219"/>
                    </a:ext>
                  </a:extLst>
                </a:gridCol>
                <a:gridCol w="1130808">
                  <a:extLst>
                    <a:ext uri="{9D8B030D-6E8A-4147-A177-3AD203B41FA5}">
                      <a16:colId xmlns:a16="http://schemas.microsoft.com/office/drawing/2014/main" val="3165815733"/>
                    </a:ext>
                  </a:extLst>
                </a:gridCol>
                <a:gridCol w="787591">
                  <a:extLst>
                    <a:ext uri="{9D8B030D-6E8A-4147-A177-3AD203B41FA5}">
                      <a16:colId xmlns:a16="http://schemas.microsoft.com/office/drawing/2014/main" val="2932179242"/>
                    </a:ext>
                  </a:extLst>
                </a:gridCol>
                <a:gridCol w="986028">
                  <a:extLst>
                    <a:ext uri="{9D8B030D-6E8A-4147-A177-3AD203B41FA5}">
                      <a16:colId xmlns:a16="http://schemas.microsoft.com/office/drawing/2014/main" val="3618420195"/>
                    </a:ext>
                  </a:extLst>
                </a:gridCol>
                <a:gridCol w="1350137">
                  <a:extLst>
                    <a:ext uri="{9D8B030D-6E8A-4147-A177-3AD203B41FA5}">
                      <a16:colId xmlns:a16="http://schemas.microsoft.com/office/drawing/2014/main" val="1850954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145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Неуспешный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0.80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84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Успешный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0.96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904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0.95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0601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8975604-4877-437C-AD92-72557C7615FB}"/>
              </a:ext>
            </a:extLst>
          </p:cNvPr>
          <p:cNvSpPr txBox="1"/>
          <p:nvPr/>
        </p:nvSpPr>
        <p:spPr>
          <a:xfrm>
            <a:off x="6349767" y="3584058"/>
            <a:ext cx="2491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Матрица ошибок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E7DD3597-855A-4F59-8C95-FFCE9CABB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924997"/>
              </p:ext>
            </p:extLst>
          </p:nvPr>
        </p:nvGraphicFramePr>
        <p:xfrm>
          <a:off x="6349767" y="4032379"/>
          <a:ext cx="4289051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8631">
                  <a:extLst>
                    <a:ext uri="{9D8B030D-6E8A-4147-A177-3AD203B41FA5}">
                      <a16:colId xmlns:a16="http://schemas.microsoft.com/office/drawing/2014/main" val="577426134"/>
                    </a:ext>
                  </a:extLst>
                </a:gridCol>
                <a:gridCol w="1488631">
                  <a:extLst>
                    <a:ext uri="{9D8B030D-6E8A-4147-A177-3AD203B41FA5}">
                      <a16:colId xmlns:a16="http://schemas.microsoft.com/office/drawing/2014/main" val="1524438767"/>
                    </a:ext>
                  </a:extLst>
                </a:gridCol>
                <a:gridCol w="1311789">
                  <a:extLst>
                    <a:ext uri="{9D8B030D-6E8A-4147-A177-3AD203B41FA5}">
                      <a16:colId xmlns:a16="http://schemas.microsoft.com/office/drawing/2014/main" val="3429582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Неуспешный(факт)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Успешный</a:t>
                      </a:r>
                    </a:p>
                    <a:p>
                      <a:r>
                        <a:rPr lang="ru-RU" dirty="0"/>
                        <a:t>(факт)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38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Неуспешный (прогноз)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9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Успешный (прогноз)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534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82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72E07E-ED96-4180-9143-BCF7D880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3968" y="77505"/>
            <a:ext cx="6421073" cy="1325563"/>
          </a:xfrm>
        </p:spPr>
        <p:txBody>
          <a:bodyPr>
            <a:norm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Результаты для ремонта зданий с учетом условий участия в конкурсе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18A276A-DA19-40E3-B05B-601CB37C6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366778"/>
              </p:ext>
            </p:extLst>
          </p:nvPr>
        </p:nvGraphicFramePr>
        <p:xfrm>
          <a:off x="761649" y="1772400"/>
          <a:ext cx="4662908" cy="40139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68643">
                  <a:extLst>
                    <a:ext uri="{9D8B030D-6E8A-4147-A177-3AD203B41FA5}">
                      <a16:colId xmlns:a16="http://schemas.microsoft.com/office/drawing/2014/main" val="3213539850"/>
                    </a:ext>
                  </a:extLst>
                </a:gridCol>
                <a:gridCol w="1957147">
                  <a:extLst>
                    <a:ext uri="{9D8B030D-6E8A-4147-A177-3AD203B41FA5}">
                      <a16:colId xmlns:a16="http://schemas.microsoft.com/office/drawing/2014/main" val="3270015800"/>
                    </a:ext>
                  </a:extLst>
                </a:gridCol>
                <a:gridCol w="2237118">
                  <a:extLst>
                    <a:ext uri="{9D8B030D-6E8A-4147-A177-3AD203B41FA5}">
                      <a16:colId xmlns:a16="http://schemas.microsoft.com/office/drawing/2014/main" val="24629572"/>
                    </a:ext>
                  </a:extLst>
                </a:gridCol>
              </a:tblGrid>
              <a:tr h="334492"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ИНН исполнителя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Вероятность участия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098608010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7813295730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0.994346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695390793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7806438762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0.994346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276808240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434593053826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0.994346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137307773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7839426699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0.992698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787097702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7707049388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0.992698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198535290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7804455145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0.992698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840235066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7715617958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0.992698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70635032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7801353265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0.992698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609495634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7802425152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0.992698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826081996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7838365179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0.992698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893568836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7806272267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0.991891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084237784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91E4114-0D4C-45F6-BEB2-B5543C5D7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726163"/>
              </p:ext>
            </p:extLst>
          </p:nvPr>
        </p:nvGraphicFramePr>
        <p:xfrm>
          <a:off x="5810775" y="1772400"/>
          <a:ext cx="6026092" cy="40139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54306">
                  <a:extLst>
                    <a:ext uri="{9D8B030D-6E8A-4147-A177-3AD203B41FA5}">
                      <a16:colId xmlns:a16="http://schemas.microsoft.com/office/drawing/2014/main" val="3476919721"/>
                    </a:ext>
                  </a:extLst>
                </a:gridCol>
                <a:gridCol w="3671786">
                  <a:extLst>
                    <a:ext uri="{9D8B030D-6E8A-4147-A177-3AD203B41FA5}">
                      <a16:colId xmlns:a16="http://schemas.microsoft.com/office/drawing/2014/main" val="44038145"/>
                    </a:ext>
                  </a:extLst>
                </a:gridCol>
              </a:tblGrid>
              <a:tr h="259344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ИНН исполнителя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Максимальная цена контракта (руб.)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017180844"/>
                  </a:ext>
                </a:extLst>
              </a:tr>
              <a:tr h="301458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7813295730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97 972 270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183586284"/>
                  </a:ext>
                </a:extLst>
              </a:tr>
              <a:tr h="301458">
                <a:tc>
                  <a:txBody>
                    <a:bodyPr/>
                    <a:lstStyle/>
                    <a:p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7806438762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69 300 000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017261361"/>
                  </a:ext>
                </a:extLst>
              </a:tr>
              <a:tr h="301458">
                <a:tc>
                  <a:txBody>
                    <a:bodyPr/>
                    <a:lstStyle/>
                    <a:p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434593053826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66 600 000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291360976"/>
                  </a:ext>
                </a:extLst>
              </a:tr>
              <a:tr h="301458">
                <a:tc>
                  <a:txBody>
                    <a:bodyPr/>
                    <a:lstStyle/>
                    <a:p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7839426699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158 853 000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735648005"/>
                  </a:ext>
                </a:extLst>
              </a:tr>
              <a:tr h="301458">
                <a:tc>
                  <a:txBody>
                    <a:bodyPr/>
                    <a:lstStyle/>
                    <a:p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7707049388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94 269 460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642101558"/>
                  </a:ext>
                </a:extLst>
              </a:tr>
              <a:tr h="301458">
                <a:tc>
                  <a:txBody>
                    <a:bodyPr/>
                    <a:lstStyle/>
                    <a:p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7804455145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92 427 860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172863702"/>
                  </a:ext>
                </a:extLst>
              </a:tr>
              <a:tr h="301458">
                <a:tc>
                  <a:txBody>
                    <a:bodyPr/>
                    <a:lstStyle/>
                    <a:p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7715617958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78 316 130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218495726"/>
                  </a:ext>
                </a:extLst>
              </a:tr>
              <a:tr h="301458">
                <a:tc>
                  <a:txBody>
                    <a:bodyPr/>
                    <a:lstStyle/>
                    <a:p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7801353265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77 322 600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27551297"/>
                  </a:ext>
                </a:extLst>
              </a:tr>
              <a:tr h="301458">
                <a:tc>
                  <a:txBody>
                    <a:bodyPr/>
                    <a:lstStyle/>
                    <a:p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7802425152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70 876 000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83928286"/>
                  </a:ext>
                </a:extLst>
              </a:tr>
              <a:tr h="301458">
                <a:tc>
                  <a:txBody>
                    <a:bodyPr/>
                    <a:lstStyle/>
                    <a:p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7838365179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57 472 150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145460774"/>
                  </a:ext>
                </a:extLst>
              </a:tr>
              <a:tr h="301458">
                <a:tc>
                  <a:txBody>
                    <a:bodyPr/>
                    <a:lstStyle/>
                    <a:p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7806272267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95 869 040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961265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7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72E07E-ED96-4180-9143-BCF7D880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3968" y="77505"/>
            <a:ext cx="5631287" cy="1325563"/>
          </a:xfrm>
        </p:spPr>
        <p:txBody>
          <a:bodyPr>
            <a:normAutofit/>
          </a:bodyPr>
          <a:lstStyle/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Результаты для уборки зданий с учетом условий участия в конкурсе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5B635656-9A43-4684-A699-63060DB02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665854"/>
              </p:ext>
            </p:extLst>
          </p:nvPr>
        </p:nvGraphicFramePr>
        <p:xfrm>
          <a:off x="794679" y="1878573"/>
          <a:ext cx="4662908" cy="40139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68643">
                  <a:extLst>
                    <a:ext uri="{9D8B030D-6E8A-4147-A177-3AD203B41FA5}">
                      <a16:colId xmlns:a16="http://schemas.microsoft.com/office/drawing/2014/main" val="1069886670"/>
                    </a:ext>
                  </a:extLst>
                </a:gridCol>
                <a:gridCol w="1957147">
                  <a:extLst>
                    <a:ext uri="{9D8B030D-6E8A-4147-A177-3AD203B41FA5}">
                      <a16:colId xmlns:a16="http://schemas.microsoft.com/office/drawing/2014/main" val="3548353317"/>
                    </a:ext>
                  </a:extLst>
                </a:gridCol>
                <a:gridCol w="2237118">
                  <a:extLst>
                    <a:ext uri="{9D8B030D-6E8A-4147-A177-3AD203B41FA5}">
                      <a16:colId xmlns:a16="http://schemas.microsoft.com/office/drawing/2014/main" val="4145817344"/>
                    </a:ext>
                  </a:extLst>
                </a:gridCol>
              </a:tblGrid>
              <a:tr h="305063"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ИНН исполнителя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Вероятность участия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756980930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7806272267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0.997370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808699338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7816274834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0.997074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556867764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7810010730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0.996285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075259935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665209071864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0.992642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098989532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7810013071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0.983990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691056206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7842023467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0.965409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779071402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7811548471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0.469279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965379012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772774274560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0.366412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713467021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7806538767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0.355258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670795223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7841432932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0.232551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767178425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7842459510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0.229978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964288034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639494E-0EDA-4D3A-9DEB-39479E23E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79419"/>
              </p:ext>
            </p:extLst>
          </p:nvPr>
        </p:nvGraphicFramePr>
        <p:xfrm>
          <a:off x="5825106" y="1878573"/>
          <a:ext cx="6020149" cy="40139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98908">
                  <a:extLst>
                    <a:ext uri="{9D8B030D-6E8A-4147-A177-3AD203B41FA5}">
                      <a16:colId xmlns:a16="http://schemas.microsoft.com/office/drawing/2014/main" val="204047089"/>
                    </a:ext>
                  </a:extLst>
                </a:gridCol>
                <a:gridCol w="3721241">
                  <a:extLst>
                    <a:ext uri="{9D8B030D-6E8A-4147-A177-3AD203B41FA5}">
                      <a16:colId xmlns:a16="http://schemas.microsoft.com/office/drawing/2014/main" val="3654039128"/>
                    </a:ext>
                  </a:extLst>
                </a:gridCol>
              </a:tblGrid>
              <a:tr h="334492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ИНН исполнителя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Максимальная цена контракта (руб.)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096882297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7806272267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38 180 356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694582176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7816274834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29 902 782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640764599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7810010730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26 597 917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050069187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665209071864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36 320 683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852159892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7810013071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30 066 815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636356018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7842023467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35 492 981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572042820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7811548471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86 585 771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21985345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772774274560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26 791 283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717658361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7806538767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37 544 192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296595213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7841432932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70 904 664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686733427"/>
                  </a:ext>
                </a:extLst>
              </a:tr>
              <a:tr h="33449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7842459510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92 356 699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856541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6547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5975</TotalTime>
  <Words>1567</Words>
  <Application>Microsoft Office PowerPoint</Application>
  <PresentationFormat>Широкоэкранный</PresentationFormat>
  <Paragraphs>496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Тема Office</vt:lpstr>
      <vt:lpstr>Поиск потенциальных поставщиков</vt:lpstr>
      <vt:lpstr>Презентация PowerPoint</vt:lpstr>
      <vt:lpstr>Полученные данные</vt:lpstr>
      <vt:lpstr>Условия участия в конкурсе</vt:lpstr>
      <vt:lpstr>Общие данные</vt:lpstr>
      <vt:lpstr>Распределение данных по ремонту зданий</vt:lpstr>
      <vt:lpstr>Финансовые показатели исполнителей исполнителей по ремонту зданий</vt:lpstr>
      <vt:lpstr>Данные в разрезе исполнителей для ремонта зданий</vt:lpstr>
      <vt:lpstr>Данные в разрезе исполнителей для уборки зданий</vt:lpstr>
      <vt:lpstr>Данные в разрезе исполнителей</vt:lpstr>
      <vt:lpstr>Презентация PowerPoint</vt:lpstr>
      <vt:lpstr>Кластерный анализ </vt:lpstr>
      <vt:lpstr>Кластерный анализ</vt:lpstr>
      <vt:lpstr>Определение числа кластеров для ремонта зданий на неочищенных от выбросов  данных</vt:lpstr>
      <vt:lpstr>Результат иерархической кластеризации данных с выбросами</vt:lpstr>
      <vt:lpstr>Кластеризация для ремонта зданий на логарифмированных данных  (4 кластера)</vt:lpstr>
      <vt:lpstr>Кластеризация для ремонта зданий на логарифмированных данных  (3 кластера)</vt:lpstr>
      <vt:lpstr>Интерпретация кластеров для ремонта зданий</vt:lpstr>
      <vt:lpstr>Определение числа кластеров для клининга на неочищенных данных</vt:lpstr>
      <vt:lpstr>Иерархическая кластеризация</vt:lpstr>
      <vt:lpstr>Кластеризация для уборки зданий на логарифмированных данных  (5 кластеров)</vt:lpstr>
      <vt:lpstr>Интерпретация кластеров для уборки зданий</vt:lpstr>
      <vt:lpstr>Определение целевой переменной</vt:lpstr>
      <vt:lpstr>Распределение переменной успешный контракт</vt:lpstr>
      <vt:lpstr>Предсказание успешного контракта</vt:lpstr>
      <vt:lpstr>Презентация PowerPoint</vt:lpstr>
      <vt:lpstr>Используемые показатели качества классификации</vt:lpstr>
      <vt:lpstr>Результаты для ремонта зданий</vt:lpstr>
      <vt:lpstr>Результаты для уборки зданий</vt:lpstr>
      <vt:lpstr>Результаты для ремонта зданий с учетом условий участия в конкурсе</vt:lpstr>
      <vt:lpstr>Результаты для уборки зданий с учетом условий участия в конкурсе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Поиск потенциальных поставщиков</dc:title>
  <dc:creator>Александр Кустарёв</dc:creator>
  <cp:lastModifiedBy>Александр Кустарёв</cp:lastModifiedBy>
  <cp:revision>88</cp:revision>
  <dcterms:created xsi:type="dcterms:W3CDTF">2025-10-01T08:31:52Z</dcterms:created>
  <dcterms:modified xsi:type="dcterms:W3CDTF">2025-10-18T15:02:25Z</dcterms:modified>
</cp:coreProperties>
</file>